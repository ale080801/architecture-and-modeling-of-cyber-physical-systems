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796AE8-9C08-4969-9ACA-F727850F3E7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0096E8-8F03-47BD-B4D7-95111DFA8D10}">
      <dgm:prSet/>
      <dgm:spPr/>
      <dgm:t>
        <a:bodyPr/>
        <a:lstStyle/>
        <a:p>
          <a:r>
            <a:rPr lang="en-US" b="1" u="sng"/>
            <a:t>Safety:</a:t>
          </a:r>
          <a:endParaRPr lang="en-US"/>
        </a:p>
      </dgm:t>
    </dgm:pt>
    <dgm:pt modelId="{FB0A63CC-7A9F-4D4A-BAD9-CE009D72DA6A}" type="parTrans" cxnId="{89EE9CA3-F13C-4C20-91B8-16D2C7631BB3}">
      <dgm:prSet/>
      <dgm:spPr/>
      <dgm:t>
        <a:bodyPr/>
        <a:lstStyle/>
        <a:p>
          <a:endParaRPr lang="en-US"/>
        </a:p>
      </dgm:t>
    </dgm:pt>
    <dgm:pt modelId="{811D01EF-2163-46B8-8C80-746DB2A1F0DB}" type="sibTrans" cxnId="{89EE9CA3-F13C-4C20-91B8-16D2C7631BB3}">
      <dgm:prSet/>
      <dgm:spPr/>
      <dgm:t>
        <a:bodyPr/>
        <a:lstStyle/>
        <a:p>
          <a:endParaRPr lang="en-US"/>
        </a:p>
      </dgm:t>
    </dgm:pt>
    <dgm:pt modelId="{8F84C2EA-D9BF-43D4-90D6-1C277870454B}">
      <dgm:prSet/>
      <dgm:spPr/>
      <dgm:t>
        <a:bodyPr/>
        <a:lstStyle/>
        <a:p>
          <a:r>
            <a:rPr lang="en-US" b="1"/>
            <a:t>Safe failure</a:t>
          </a:r>
          <a:r>
            <a:rPr lang="en-US"/>
            <a:t>: the failure causes the system to move towards or into the safe state, even without a process demand.</a:t>
          </a:r>
        </a:p>
      </dgm:t>
    </dgm:pt>
    <dgm:pt modelId="{1815B887-CDF3-4409-9EBB-C3E18CF9FECA}" type="parTrans" cxnId="{340E6C19-032A-44F4-A5F2-460D8DEACE5C}">
      <dgm:prSet/>
      <dgm:spPr/>
      <dgm:t>
        <a:bodyPr/>
        <a:lstStyle/>
        <a:p>
          <a:endParaRPr lang="en-US"/>
        </a:p>
      </dgm:t>
    </dgm:pt>
    <dgm:pt modelId="{7F069EAD-DEDA-4316-91AD-E64ABC33FBC3}" type="sibTrans" cxnId="{340E6C19-032A-44F4-A5F2-460D8DEACE5C}">
      <dgm:prSet/>
      <dgm:spPr/>
      <dgm:t>
        <a:bodyPr/>
        <a:lstStyle/>
        <a:p>
          <a:endParaRPr lang="en-US"/>
        </a:p>
      </dgm:t>
    </dgm:pt>
    <dgm:pt modelId="{FE961E1A-87E5-4ABB-892C-20C71CA1D3DF}">
      <dgm:prSet/>
      <dgm:spPr/>
      <dgm:t>
        <a:bodyPr/>
        <a:lstStyle/>
        <a:p>
          <a:r>
            <a:rPr lang="en-US" b="1"/>
            <a:t>Dangerous failure</a:t>
          </a:r>
          <a:r>
            <a:rPr lang="en-US"/>
            <a:t>: the failure prevents the SIF from responding correctly to a process demand.</a:t>
          </a:r>
        </a:p>
      </dgm:t>
    </dgm:pt>
    <dgm:pt modelId="{236B7778-BD0B-43AD-AA1A-AA460AD72893}" type="parTrans" cxnId="{74288562-6CAC-472A-8F1A-B48E45270F16}">
      <dgm:prSet/>
      <dgm:spPr/>
      <dgm:t>
        <a:bodyPr/>
        <a:lstStyle/>
        <a:p>
          <a:endParaRPr lang="en-US"/>
        </a:p>
      </dgm:t>
    </dgm:pt>
    <dgm:pt modelId="{5D69BA01-CBE1-482B-952B-560E69B432D6}" type="sibTrans" cxnId="{74288562-6CAC-472A-8F1A-B48E45270F16}">
      <dgm:prSet/>
      <dgm:spPr/>
      <dgm:t>
        <a:bodyPr/>
        <a:lstStyle/>
        <a:p>
          <a:endParaRPr lang="en-US"/>
        </a:p>
      </dgm:t>
    </dgm:pt>
    <dgm:pt modelId="{FC917D64-AA0C-41B4-8CD4-6210AE11FC69}">
      <dgm:prSet/>
      <dgm:spPr/>
      <dgm:t>
        <a:bodyPr/>
        <a:lstStyle/>
        <a:p>
          <a:r>
            <a:rPr lang="en-US" b="1" u="sng"/>
            <a:t>Detection:</a:t>
          </a:r>
          <a:endParaRPr lang="en-US"/>
        </a:p>
      </dgm:t>
    </dgm:pt>
    <dgm:pt modelId="{2213D301-6183-4B44-A284-A27FEC862F4E}" type="parTrans" cxnId="{2330AE70-5472-4C3F-AB04-0E95670640EA}">
      <dgm:prSet/>
      <dgm:spPr/>
      <dgm:t>
        <a:bodyPr/>
        <a:lstStyle/>
        <a:p>
          <a:endParaRPr lang="en-US"/>
        </a:p>
      </dgm:t>
    </dgm:pt>
    <dgm:pt modelId="{8D8C7C21-7D49-40EF-9D80-E0503CFA2F2B}" type="sibTrans" cxnId="{2330AE70-5472-4C3F-AB04-0E95670640EA}">
      <dgm:prSet/>
      <dgm:spPr/>
      <dgm:t>
        <a:bodyPr/>
        <a:lstStyle/>
        <a:p>
          <a:endParaRPr lang="en-US"/>
        </a:p>
      </dgm:t>
    </dgm:pt>
    <dgm:pt modelId="{2172DEDE-9F61-4A6A-B583-EBC34601F90B}">
      <dgm:prSet/>
      <dgm:spPr/>
      <dgm:t>
        <a:bodyPr/>
        <a:lstStyle/>
        <a:p>
          <a:r>
            <a:rPr lang="en-US" b="1"/>
            <a:t>Detected (D)</a:t>
          </a:r>
          <a:r>
            <a:rPr lang="en-US"/>
            <a:t>: the failure is identified by the component’s internal online diagnostics.</a:t>
          </a:r>
        </a:p>
      </dgm:t>
    </dgm:pt>
    <dgm:pt modelId="{1F7940F3-C5FF-4498-8545-AFD371C5CBFB}" type="parTrans" cxnId="{0E280B28-8BCD-4C5D-A32E-5784CE3DDC58}">
      <dgm:prSet/>
      <dgm:spPr/>
      <dgm:t>
        <a:bodyPr/>
        <a:lstStyle/>
        <a:p>
          <a:endParaRPr lang="en-US"/>
        </a:p>
      </dgm:t>
    </dgm:pt>
    <dgm:pt modelId="{FCE3E7DA-11D8-47AE-A54B-81D610E79262}" type="sibTrans" cxnId="{0E280B28-8BCD-4C5D-A32E-5784CE3DDC58}">
      <dgm:prSet/>
      <dgm:spPr/>
      <dgm:t>
        <a:bodyPr/>
        <a:lstStyle/>
        <a:p>
          <a:endParaRPr lang="en-US"/>
        </a:p>
      </dgm:t>
    </dgm:pt>
    <dgm:pt modelId="{76719DAF-D729-4573-BEC4-360EF9858BF9}">
      <dgm:prSet/>
      <dgm:spPr/>
      <dgm:t>
        <a:bodyPr/>
        <a:lstStyle/>
        <a:p>
          <a:r>
            <a:rPr lang="en-US" b="1"/>
            <a:t>Undetected (U)</a:t>
          </a:r>
          <a:r>
            <a:rPr lang="en-US"/>
            <a:t>: the failure is silent, not revealed by online diagnostics. </a:t>
          </a:r>
        </a:p>
      </dgm:t>
    </dgm:pt>
    <dgm:pt modelId="{F8C4F181-F7CB-472B-A943-91F3D833938A}" type="parTrans" cxnId="{517C1290-8110-41B2-8853-9A3A285B9AA0}">
      <dgm:prSet/>
      <dgm:spPr/>
      <dgm:t>
        <a:bodyPr/>
        <a:lstStyle/>
        <a:p>
          <a:endParaRPr lang="en-US"/>
        </a:p>
      </dgm:t>
    </dgm:pt>
    <dgm:pt modelId="{CFFCFA67-987F-42C1-9CAA-9B2EBE2293E8}" type="sibTrans" cxnId="{517C1290-8110-41B2-8853-9A3A285B9AA0}">
      <dgm:prSet/>
      <dgm:spPr/>
      <dgm:t>
        <a:bodyPr/>
        <a:lstStyle/>
        <a:p>
          <a:endParaRPr lang="en-US"/>
        </a:p>
      </dgm:t>
    </dgm:pt>
    <dgm:pt modelId="{41AF7AC8-40FC-4EAB-89B8-5D9EAC65E769}" type="pres">
      <dgm:prSet presAssocID="{EC796AE8-9C08-4969-9ACA-F727850F3E71}" presName="vert0" presStyleCnt="0">
        <dgm:presLayoutVars>
          <dgm:dir/>
          <dgm:animOne val="branch"/>
          <dgm:animLvl val="lvl"/>
        </dgm:presLayoutVars>
      </dgm:prSet>
      <dgm:spPr/>
    </dgm:pt>
    <dgm:pt modelId="{C38E736F-6110-4385-B4DC-75E76CCD961F}" type="pres">
      <dgm:prSet presAssocID="{C10096E8-8F03-47BD-B4D7-95111DFA8D10}" presName="thickLine" presStyleLbl="alignNode1" presStyleIdx="0" presStyleCnt="2"/>
      <dgm:spPr/>
    </dgm:pt>
    <dgm:pt modelId="{EC7F5A93-1E0E-4E1C-9776-BDD2DABC302C}" type="pres">
      <dgm:prSet presAssocID="{C10096E8-8F03-47BD-B4D7-95111DFA8D10}" presName="horz1" presStyleCnt="0"/>
      <dgm:spPr/>
    </dgm:pt>
    <dgm:pt modelId="{522CDE80-0FBB-4AFE-8098-ADF6CD24187D}" type="pres">
      <dgm:prSet presAssocID="{C10096E8-8F03-47BD-B4D7-95111DFA8D10}" presName="tx1" presStyleLbl="revTx" presStyleIdx="0" presStyleCnt="6"/>
      <dgm:spPr/>
    </dgm:pt>
    <dgm:pt modelId="{2765E482-6DC7-4A7A-AE01-C4A77F5256C8}" type="pres">
      <dgm:prSet presAssocID="{C10096E8-8F03-47BD-B4D7-95111DFA8D10}" presName="vert1" presStyleCnt="0"/>
      <dgm:spPr/>
    </dgm:pt>
    <dgm:pt modelId="{2EFF9387-4190-4BB3-A2DE-378DD9A93084}" type="pres">
      <dgm:prSet presAssocID="{8F84C2EA-D9BF-43D4-90D6-1C277870454B}" presName="vertSpace2a" presStyleCnt="0"/>
      <dgm:spPr/>
    </dgm:pt>
    <dgm:pt modelId="{1A16D321-3C54-4D2B-BA6F-21AF112C20F6}" type="pres">
      <dgm:prSet presAssocID="{8F84C2EA-D9BF-43D4-90D6-1C277870454B}" presName="horz2" presStyleCnt="0"/>
      <dgm:spPr/>
    </dgm:pt>
    <dgm:pt modelId="{0029D15C-A602-4278-8F27-B8FEAD356796}" type="pres">
      <dgm:prSet presAssocID="{8F84C2EA-D9BF-43D4-90D6-1C277870454B}" presName="horzSpace2" presStyleCnt="0"/>
      <dgm:spPr/>
    </dgm:pt>
    <dgm:pt modelId="{7A500C0D-2A14-4415-9C11-4FFFC31CE341}" type="pres">
      <dgm:prSet presAssocID="{8F84C2EA-D9BF-43D4-90D6-1C277870454B}" presName="tx2" presStyleLbl="revTx" presStyleIdx="1" presStyleCnt="6"/>
      <dgm:spPr/>
    </dgm:pt>
    <dgm:pt modelId="{033975C4-4EED-4FD8-AC6D-AD9ADDDC913F}" type="pres">
      <dgm:prSet presAssocID="{8F84C2EA-D9BF-43D4-90D6-1C277870454B}" presName="vert2" presStyleCnt="0"/>
      <dgm:spPr/>
    </dgm:pt>
    <dgm:pt modelId="{3DC0522F-B73C-4639-A52D-A6A45F5DA3D0}" type="pres">
      <dgm:prSet presAssocID="{8F84C2EA-D9BF-43D4-90D6-1C277870454B}" presName="thinLine2b" presStyleLbl="callout" presStyleIdx="0" presStyleCnt="4"/>
      <dgm:spPr/>
    </dgm:pt>
    <dgm:pt modelId="{FCFAE647-23A3-4530-B383-50061ADB30E5}" type="pres">
      <dgm:prSet presAssocID="{8F84C2EA-D9BF-43D4-90D6-1C277870454B}" presName="vertSpace2b" presStyleCnt="0"/>
      <dgm:spPr/>
    </dgm:pt>
    <dgm:pt modelId="{9A400C8C-196F-4B6C-86AB-C345893504A1}" type="pres">
      <dgm:prSet presAssocID="{FE961E1A-87E5-4ABB-892C-20C71CA1D3DF}" presName="horz2" presStyleCnt="0"/>
      <dgm:spPr/>
    </dgm:pt>
    <dgm:pt modelId="{4F3B54DF-787A-413B-97DA-AB8E1B3B7C36}" type="pres">
      <dgm:prSet presAssocID="{FE961E1A-87E5-4ABB-892C-20C71CA1D3DF}" presName="horzSpace2" presStyleCnt="0"/>
      <dgm:spPr/>
    </dgm:pt>
    <dgm:pt modelId="{3B1A9075-E070-4595-B3CF-A088F47F4959}" type="pres">
      <dgm:prSet presAssocID="{FE961E1A-87E5-4ABB-892C-20C71CA1D3DF}" presName="tx2" presStyleLbl="revTx" presStyleIdx="2" presStyleCnt="6"/>
      <dgm:spPr/>
    </dgm:pt>
    <dgm:pt modelId="{B707E123-DDC2-4601-8BF0-864225528C29}" type="pres">
      <dgm:prSet presAssocID="{FE961E1A-87E5-4ABB-892C-20C71CA1D3DF}" presName="vert2" presStyleCnt="0"/>
      <dgm:spPr/>
    </dgm:pt>
    <dgm:pt modelId="{8DB734DC-8361-4E18-98AB-81F2EE0DA74E}" type="pres">
      <dgm:prSet presAssocID="{FE961E1A-87E5-4ABB-892C-20C71CA1D3DF}" presName="thinLine2b" presStyleLbl="callout" presStyleIdx="1" presStyleCnt="4"/>
      <dgm:spPr/>
    </dgm:pt>
    <dgm:pt modelId="{0CDE6A64-EE66-43BA-9093-2F16D9D85407}" type="pres">
      <dgm:prSet presAssocID="{FE961E1A-87E5-4ABB-892C-20C71CA1D3DF}" presName="vertSpace2b" presStyleCnt="0"/>
      <dgm:spPr/>
    </dgm:pt>
    <dgm:pt modelId="{9EEC0D63-0E68-477E-BB45-DB801A2BCA7A}" type="pres">
      <dgm:prSet presAssocID="{FC917D64-AA0C-41B4-8CD4-6210AE11FC69}" presName="thickLine" presStyleLbl="alignNode1" presStyleIdx="1" presStyleCnt="2"/>
      <dgm:spPr/>
    </dgm:pt>
    <dgm:pt modelId="{263F7299-5470-4EEB-AE53-278783460079}" type="pres">
      <dgm:prSet presAssocID="{FC917D64-AA0C-41B4-8CD4-6210AE11FC69}" presName="horz1" presStyleCnt="0"/>
      <dgm:spPr/>
    </dgm:pt>
    <dgm:pt modelId="{11ADE065-5FFF-400E-9302-0D2BFD5E7BAD}" type="pres">
      <dgm:prSet presAssocID="{FC917D64-AA0C-41B4-8CD4-6210AE11FC69}" presName="tx1" presStyleLbl="revTx" presStyleIdx="3" presStyleCnt="6"/>
      <dgm:spPr/>
    </dgm:pt>
    <dgm:pt modelId="{7A372687-F81A-49F9-9C2B-7E84E56DB477}" type="pres">
      <dgm:prSet presAssocID="{FC917D64-AA0C-41B4-8CD4-6210AE11FC69}" presName="vert1" presStyleCnt="0"/>
      <dgm:spPr/>
    </dgm:pt>
    <dgm:pt modelId="{4CC3DC58-20FC-429C-9170-E25CA5F61B9D}" type="pres">
      <dgm:prSet presAssocID="{2172DEDE-9F61-4A6A-B583-EBC34601F90B}" presName="vertSpace2a" presStyleCnt="0"/>
      <dgm:spPr/>
    </dgm:pt>
    <dgm:pt modelId="{66AAAA75-AB31-49FC-8FFC-44D37961AEE0}" type="pres">
      <dgm:prSet presAssocID="{2172DEDE-9F61-4A6A-B583-EBC34601F90B}" presName="horz2" presStyleCnt="0"/>
      <dgm:spPr/>
    </dgm:pt>
    <dgm:pt modelId="{23A674A2-9878-41FC-BE75-C9228B6BE69B}" type="pres">
      <dgm:prSet presAssocID="{2172DEDE-9F61-4A6A-B583-EBC34601F90B}" presName="horzSpace2" presStyleCnt="0"/>
      <dgm:spPr/>
    </dgm:pt>
    <dgm:pt modelId="{6248E906-3CB4-4336-BB98-D2C58AF3993A}" type="pres">
      <dgm:prSet presAssocID="{2172DEDE-9F61-4A6A-B583-EBC34601F90B}" presName="tx2" presStyleLbl="revTx" presStyleIdx="4" presStyleCnt="6"/>
      <dgm:spPr/>
    </dgm:pt>
    <dgm:pt modelId="{7CCA120A-4DB9-4A63-80BA-BA7AB8FB5E21}" type="pres">
      <dgm:prSet presAssocID="{2172DEDE-9F61-4A6A-B583-EBC34601F90B}" presName="vert2" presStyleCnt="0"/>
      <dgm:spPr/>
    </dgm:pt>
    <dgm:pt modelId="{73A8FC3F-CAE8-4D5F-908E-FE163220EB72}" type="pres">
      <dgm:prSet presAssocID="{2172DEDE-9F61-4A6A-B583-EBC34601F90B}" presName="thinLine2b" presStyleLbl="callout" presStyleIdx="2" presStyleCnt="4"/>
      <dgm:spPr/>
    </dgm:pt>
    <dgm:pt modelId="{11145EDE-B4E3-43D6-8CD5-A35461AC2521}" type="pres">
      <dgm:prSet presAssocID="{2172DEDE-9F61-4A6A-B583-EBC34601F90B}" presName="vertSpace2b" presStyleCnt="0"/>
      <dgm:spPr/>
    </dgm:pt>
    <dgm:pt modelId="{E9701E8F-A1D2-4B36-8245-04A424288979}" type="pres">
      <dgm:prSet presAssocID="{76719DAF-D729-4573-BEC4-360EF9858BF9}" presName="horz2" presStyleCnt="0"/>
      <dgm:spPr/>
    </dgm:pt>
    <dgm:pt modelId="{0ECFAB90-83DA-4DCC-948D-DC9E3779D410}" type="pres">
      <dgm:prSet presAssocID="{76719DAF-D729-4573-BEC4-360EF9858BF9}" presName="horzSpace2" presStyleCnt="0"/>
      <dgm:spPr/>
    </dgm:pt>
    <dgm:pt modelId="{E8E7C873-9C69-4CF6-8D2B-43560D9A2C97}" type="pres">
      <dgm:prSet presAssocID="{76719DAF-D729-4573-BEC4-360EF9858BF9}" presName="tx2" presStyleLbl="revTx" presStyleIdx="5" presStyleCnt="6"/>
      <dgm:spPr/>
    </dgm:pt>
    <dgm:pt modelId="{4CAC97BB-0C63-4B0A-98E9-D6EE1104B352}" type="pres">
      <dgm:prSet presAssocID="{76719DAF-D729-4573-BEC4-360EF9858BF9}" presName="vert2" presStyleCnt="0"/>
      <dgm:spPr/>
    </dgm:pt>
    <dgm:pt modelId="{5B3C6D3F-2EF7-4BA1-9E11-478FB6AECB13}" type="pres">
      <dgm:prSet presAssocID="{76719DAF-D729-4573-BEC4-360EF9858BF9}" presName="thinLine2b" presStyleLbl="callout" presStyleIdx="3" presStyleCnt="4"/>
      <dgm:spPr/>
    </dgm:pt>
    <dgm:pt modelId="{4214DF99-EE55-4E32-9A24-6533C89833B9}" type="pres">
      <dgm:prSet presAssocID="{76719DAF-D729-4573-BEC4-360EF9858BF9}" presName="vertSpace2b" presStyleCnt="0"/>
      <dgm:spPr/>
    </dgm:pt>
  </dgm:ptLst>
  <dgm:cxnLst>
    <dgm:cxn modelId="{340E6C19-032A-44F4-A5F2-460D8DEACE5C}" srcId="{C10096E8-8F03-47BD-B4D7-95111DFA8D10}" destId="{8F84C2EA-D9BF-43D4-90D6-1C277870454B}" srcOrd="0" destOrd="0" parTransId="{1815B887-CDF3-4409-9EBB-C3E18CF9FECA}" sibTransId="{7F069EAD-DEDA-4316-91AD-E64ABC33FBC3}"/>
    <dgm:cxn modelId="{0E280B28-8BCD-4C5D-A32E-5784CE3DDC58}" srcId="{FC917D64-AA0C-41B4-8CD4-6210AE11FC69}" destId="{2172DEDE-9F61-4A6A-B583-EBC34601F90B}" srcOrd="0" destOrd="0" parTransId="{1F7940F3-C5FF-4498-8545-AFD371C5CBFB}" sibTransId="{FCE3E7DA-11D8-47AE-A54B-81D610E79262}"/>
    <dgm:cxn modelId="{D313F637-1E64-4AD7-9154-413E8B187577}" type="presOf" srcId="{2172DEDE-9F61-4A6A-B583-EBC34601F90B}" destId="{6248E906-3CB4-4336-BB98-D2C58AF3993A}" srcOrd="0" destOrd="0" presId="urn:microsoft.com/office/officeart/2008/layout/LinedList"/>
    <dgm:cxn modelId="{74288562-6CAC-472A-8F1A-B48E45270F16}" srcId="{C10096E8-8F03-47BD-B4D7-95111DFA8D10}" destId="{FE961E1A-87E5-4ABB-892C-20C71CA1D3DF}" srcOrd="1" destOrd="0" parTransId="{236B7778-BD0B-43AD-AA1A-AA460AD72893}" sibTransId="{5D69BA01-CBE1-482B-952B-560E69B432D6}"/>
    <dgm:cxn modelId="{E036E24D-50D9-4D60-A566-B48807CDE063}" type="presOf" srcId="{76719DAF-D729-4573-BEC4-360EF9858BF9}" destId="{E8E7C873-9C69-4CF6-8D2B-43560D9A2C97}" srcOrd="0" destOrd="0" presId="urn:microsoft.com/office/officeart/2008/layout/LinedList"/>
    <dgm:cxn modelId="{2330AE70-5472-4C3F-AB04-0E95670640EA}" srcId="{EC796AE8-9C08-4969-9ACA-F727850F3E71}" destId="{FC917D64-AA0C-41B4-8CD4-6210AE11FC69}" srcOrd="1" destOrd="0" parTransId="{2213D301-6183-4B44-A284-A27FEC862F4E}" sibTransId="{8D8C7C21-7D49-40EF-9D80-E0503CFA2F2B}"/>
    <dgm:cxn modelId="{517C1290-8110-41B2-8853-9A3A285B9AA0}" srcId="{FC917D64-AA0C-41B4-8CD4-6210AE11FC69}" destId="{76719DAF-D729-4573-BEC4-360EF9858BF9}" srcOrd="1" destOrd="0" parTransId="{F8C4F181-F7CB-472B-A943-91F3D833938A}" sibTransId="{CFFCFA67-987F-42C1-9CAA-9B2EBE2293E8}"/>
    <dgm:cxn modelId="{DF783B91-C01E-4C29-AE10-091261C7B3AC}" type="presOf" srcId="{EC796AE8-9C08-4969-9ACA-F727850F3E71}" destId="{41AF7AC8-40FC-4EAB-89B8-5D9EAC65E769}" srcOrd="0" destOrd="0" presId="urn:microsoft.com/office/officeart/2008/layout/LinedList"/>
    <dgm:cxn modelId="{FD80D29A-A1DB-4ECA-A1C5-69C98DE64A47}" type="presOf" srcId="{FE961E1A-87E5-4ABB-892C-20C71CA1D3DF}" destId="{3B1A9075-E070-4595-B3CF-A088F47F4959}" srcOrd="0" destOrd="0" presId="urn:microsoft.com/office/officeart/2008/layout/LinedList"/>
    <dgm:cxn modelId="{89EE9CA3-F13C-4C20-91B8-16D2C7631BB3}" srcId="{EC796AE8-9C08-4969-9ACA-F727850F3E71}" destId="{C10096E8-8F03-47BD-B4D7-95111DFA8D10}" srcOrd="0" destOrd="0" parTransId="{FB0A63CC-7A9F-4D4A-BAD9-CE009D72DA6A}" sibTransId="{811D01EF-2163-46B8-8C80-746DB2A1F0DB}"/>
    <dgm:cxn modelId="{56D810AE-FB72-4410-B570-3E1117E65E18}" type="presOf" srcId="{C10096E8-8F03-47BD-B4D7-95111DFA8D10}" destId="{522CDE80-0FBB-4AFE-8098-ADF6CD24187D}" srcOrd="0" destOrd="0" presId="urn:microsoft.com/office/officeart/2008/layout/LinedList"/>
    <dgm:cxn modelId="{50E849E0-72CE-4165-9EE2-243DF506B84A}" type="presOf" srcId="{8F84C2EA-D9BF-43D4-90D6-1C277870454B}" destId="{7A500C0D-2A14-4415-9C11-4FFFC31CE341}" srcOrd="0" destOrd="0" presId="urn:microsoft.com/office/officeart/2008/layout/LinedList"/>
    <dgm:cxn modelId="{06B4F3ED-7295-442C-9330-48CCC8499AF0}" type="presOf" srcId="{FC917D64-AA0C-41B4-8CD4-6210AE11FC69}" destId="{11ADE065-5FFF-400E-9302-0D2BFD5E7BAD}" srcOrd="0" destOrd="0" presId="urn:microsoft.com/office/officeart/2008/layout/LinedList"/>
    <dgm:cxn modelId="{4CA4BF46-ACE8-4995-BBEA-EBAD8A70A568}" type="presParOf" srcId="{41AF7AC8-40FC-4EAB-89B8-5D9EAC65E769}" destId="{C38E736F-6110-4385-B4DC-75E76CCD961F}" srcOrd="0" destOrd="0" presId="urn:microsoft.com/office/officeart/2008/layout/LinedList"/>
    <dgm:cxn modelId="{BE6AF8AC-01A5-478E-96B5-9E7609033FC5}" type="presParOf" srcId="{41AF7AC8-40FC-4EAB-89B8-5D9EAC65E769}" destId="{EC7F5A93-1E0E-4E1C-9776-BDD2DABC302C}" srcOrd="1" destOrd="0" presId="urn:microsoft.com/office/officeart/2008/layout/LinedList"/>
    <dgm:cxn modelId="{B3BE59F2-553B-4D88-BADC-CFD2238C2F05}" type="presParOf" srcId="{EC7F5A93-1E0E-4E1C-9776-BDD2DABC302C}" destId="{522CDE80-0FBB-4AFE-8098-ADF6CD24187D}" srcOrd="0" destOrd="0" presId="urn:microsoft.com/office/officeart/2008/layout/LinedList"/>
    <dgm:cxn modelId="{FD617117-7DC7-47DA-9FEE-BA216CA58DC2}" type="presParOf" srcId="{EC7F5A93-1E0E-4E1C-9776-BDD2DABC302C}" destId="{2765E482-6DC7-4A7A-AE01-C4A77F5256C8}" srcOrd="1" destOrd="0" presId="urn:microsoft.com/office/officeart/2008/layout/LinedList"/>
    <dgm:cxn modelId="{DBD75144-46F9-454F-9D5E-473D42483AAA}" type="presParOf" srcId="{2765E482-6DC7-4A7A-AE01-C4A77F5256C8}" destId="{2EFF9387-4190-4BB3-A2DE-378DD9A93084}" srcOrd="0" destOrd="0" presId="urn:microsoft.com/office/officeart/2008/layout/LinedList"/>
    <dgm:cxn modelId="{0EBFFC91-7E56-42DC-B6DE-029A52956D69}" type="presParOf" srcId="{2765E482-6DC7-4A7A-AE01-C4A77F5256C8}" destId="{1A16D321-3C54-4D2B-BA6F-21AF112C20F6}" srcOrd="1" destOrd="0" presId="urn:microsoft.com/office/officeart/2008/layout/LinedList"/>
    <dgm:cxn modelId="{9E8FF144-E89E-45BA-84F8-2DE16BE39B24}" type="presParOf" srcId="{1A16D321-3C54-4D2B-BA6F-21AF112C20F6}" destId="{0029D15C-A602-4278-8F27-B8FEAD356796}" srcOrd="0" destOrd="0" presId="urn:microsoft.com/office/officeart/2008/layout/LinedList"/>
    <dgm:cxn modelId="{B8C8240E-E4A0-42F7-9C35-40547355BC1E}" type="presParOf" srcId="{1A16D321-3C54-4D2B-BA6F-21AF112C20F6}" destId="{7A500C0D-2A14-4415-9C11-4FFFC31CE341}" srcOrd="1" destOrd="0" presId="urn:microsoft.com/office/officeart/2008/layout/LinedList"/>
    <dgm:cxn modelId="{89F4CF90-3381-4E27-9C55-36D6EAE1E163}" type="presParOf" srcId="{1A16D321-3C54-4D2B-BA6F-21AF112C20F6}" destId="{033975C4-4EED-4FD8-AC6D-AD9ADDDC913F}" srcOrd="2" destOrd="0" presId="urn:microsoft.com/office/officeart/2008/layout/LinedList"/>
    <dgm:cxn modelId="{19F7FF9B-F77A-4460-81EC-83E553E99CC6}" type="presParOf" srcId="{2765E482-6DC7-4A7A-AE01-C4A77F5256C8}" destId="{3DC0522F-B73C-4639-A52D-A6A45F5DA3D0}" srcOrd="2" destOrd="0" presId="urn:microsoft.com/office/officeart/2008/layout/LinedList"/>
    <dgm:cxn modelId="{6EBE9F2F-776E-4DDE-8006-4731B5316BB6}" type="presParOf" srcId="{2765E482-6DC7-4A7A-AE01-C4A77F5256C8}" destId="{FCFAE647-23A3-4530-B383-50061ADB30E5}" srcOrd="3" destOrd="0" presId="urn:microsoft.com/office/officeart/2008/layout/LinedList"/>
    <dgm:cxn modelId="{B97EDCF4-0024-4DFD-B831-DA263FDC2254}" type="presParOf" srcId="{2765E482-6DC7-4A7A-AE01-C4A77F5256C8}" destId="{9A400C8C-196F-4B6C-86AB-C345893504A1}" srcOrd="4" destOrd="0" presId="urn:microsoft.com/office/officeart/2008/layout/LinedList"/>
    <dgm:cxn modelId="{81AA9D0D-B2A9-4AFE-ACBC-9A204E3E8C2F}" type="presParOf" srcId="{9A400C8C-196F-4B6C-86AB-C345893504A1}" destId="{4F3B54DF-787A-413B-97DA-AB8E1B3B7C36}" srcOrd="0" destOrd="0" presId="urn:microsoft.com/office/officeart/2008/layout/LinedList"/>
    <dgm:cxn modelId="{FE43C918-7DF4-41F9-B9EC-BEB06E18748F}" type="presParOf" srcId="{9A400C8C-196F-4B6C-86AB-C345893504A1}" destId="{3B1A9075-E070-4595-B3CF-A088F47F4959}" srcOrd="1" destOrd="0" presId="urn:microsoft.com/office/officeart/2008/layout/LinedList"/>
    <dgm:cxn modelId="{5D26E38A-9D4A-4D49-A849-32D5DFB77625}" type="presParOf" srcId="{9A400C8C-196F-4B6C-86AB-C345893504A1}" destId="{B707E123-DDC2-4601-8BF0-864225528C29}" srcOrd="2" destOrd="0" presId="urn:microsoft.com/office/officeart/2008/layout/LinedList"/>
    <dgm:cxn modelId="{854747B9-2C52-4FB1-B9CC-039489857F20}" type="presParOf" srcId="{2765E482-6DC7-4A7A-AE01-C4A77F5256C8}" destId="{8DB734DC-8361-4E18-98AB-81F2EE0DA74E}" srcOrd="5" destOrd="0" presId="urn:microsoft.com/office/officeart/2008/layout/LinedList"/>
    <dgm:cxn modelId="{6F18ED03-6D6C-4C3A-9593-857A0E652A75}" type="presParOf" srcId="{2765E482-6DC7-4A7A-AE01-C4A77F5256C8}" destId="{0CDE6A64-EE66-43BA-9093-2F16D9D85407}" srcOrd="6" destOrd="0" presId="urn:microsoft.com/office/officeart/2008/layout/LinedList"/>
    <dgm:cxn modelId="{17B729F8-908E-42C6-8300-AE56FF089843}" type="presParOf" srcId="{41AF7AC8-40FC-4EAB-89B8-5D9EAC65E769}" destId="{9EEC0D63-0E68-477E-BB45-DB801A2BCA7A}" srcOrd="2" destOrd="0" presId="urn:microsoft.com/office/officeart/2008/layout/LinedList"/>
    <dgm:cxn modelId="{2A752276-7E47-4426-BE1B-58945FC5D972}" type="presParOf" srcId="{41AF7AC8-40FC-4EAB-89B8-5D9EAC65E769}" destId="{263F7299-5470-4EEB-AE53-278783460079}" srcOrd="3" destOrd="0" presId="urn:microsoft.com/office/officeart/2008/layout/LinedList"/>
    <dgm:cxn modelId="{039907E2-371F-4272-AB97-284338563155}" type="presParOf" srcId="{263F7299-5470-4EEB-AE53-278783460079}" destId="{11ADE065-5FFF-400E-9302-0D2BFD5E7BAD}" srcOrd="0" destOrd="0" presId="urn:microsoft.com/office/officeart/2008/layout/LinedList"/>
    <dgm:cxn modelId="{50A0453B-7CC3-433F-90DE-E9628493F954}" type="presParOf" srcId="{263F7299-5470-4EEB-AE53-278783460079}" destId="{7A372687-F81A-49F9-9C2B-7E84E56DB477}" srcOrd="1" destOrd="0" presId="urn:microsoft.com/office/officeart/2008/layout/LinedList"/>
    <dgm:cxn modelId="{2B6568E5-1CDD-4B96-9F68-AE960CBF1BE8}" type="presParOf" srcId="{7A372687-F81A-49F9-9C2B-7E84E56DB477}" destId="{4CC3DC58-20FC-429C-9170-E25CA5F61B9D}" srcOrd="0" destOrd="0" presId="urn:microsoft.com/office/officeart/2008/layout/LinedList"/>
    <dgm:cxn modelId="{7BE2F558-8574-4EA1-947E-C4731B0A8416}" type="presParOf" srcId="{7A372687-F81A-49F9-9C2B-7E84E56DB477}" destId="{66AAAA75-AB31-49FC-8FFC-44D37961AEE0}" srcOrd="1" destOrd="0" presId="urn:microsoft.com/office/officeart/2008/layout/LinedList"/>
    <dgm:cxn modelId="{58F83043-929C-4575-8F28-4DA3D70FFC40}" type="presParOf" srcId="{66AAAA75-AB31-49FC-8FFC-44D37961AEE0}" destId="{23A674A2-9878-41FC-BE75-C9228B6BE69B}" srcOrd="0" destOrd="0" presId="urn:microsoft.com/office/officeart/2008/layout/LinedList"/>
    <dgm:cxn modelId="{70C2020F-5C3C-4453-A38F-8120B4D83202}" type="presParOf" srcId="{66AAAA75-AB31-49FC-8FFC-44D37961AEE0}" destId="{6248E906-3CB4-4336-BB98-D2C58AF3993A}" srcOrd="1" destOrd="0" presId="urn:microsoft.com/office/officeart/2008/layout/LinedList"/>
    <dgm:cxn modelId="{279684F9-87BA-4FCE-A18E-93E09F65A42A}" type="presParOf" srcId="{66AAAA75-AB31-49FC-8FFC-44D37961AEE0}" destId="{7CCA120A-4DB9-4A63-80BA-BA7AB8FB5E21}" srcOrd="2" destOrd="0" presId="urn:microsoft.com/office/officeart/2008/layout/LinedList"/>
    <dgm:cxn modelId="{6B338045-EF6D-4667-B52D-A9EF8251455A}" type="presParOf" srcId="{7A372687-F81A-49F9-9C2B-7E84E56DB477}" destId="{73A8FC3F-CAE8-4D5F-908E-FE163220EB72}" srcOrd="2" destOrd="0" presId="urn:microsoft.com/office/officeart/2008/layout/LinedList"/>
    <dgm:cxn modelId="{CE4C0292-1B61-4CD4-B073-7E51459BF9FA}" type="presParOf" srcId="{7A372687-F81A-49F9-9C2B-7E84E56DB477}" destId="{11145EDE-B4E3-43D6-8CD5-A35461AC2521}" srcOrd="3" destOrd="0" presId="urn:microsoft.com/office/officeart/2008/layout/LinedList"/>
    <dgm:cxn modelId="{ADFC2FFC-602B-44F7-8AEA-8BB20421A5E2}" type="presParOf" srcId="{7A372687-F81A-49F9-9C2B-7E84E56DB477}" destId="{E9701E8F-A1D2-4B36-8245-04A424288979}" srcOrd="4" destOrd="0" presId="urn:microsoft.com/office/officeart/2008/layout/LinedList"/>
    <dgm:cxn modelId="{DFD7F1D8-C9CB-4E77-A351-352E9AA8477B}" type="presParOf" srcId="{E9701E8F-A1D2-4B36-8245-04A424288979}" destId="{0ECFAB90-83DA-4DCC-948D-DC9E3779D410}" srcOrd="0" destOrd="0" presId="urn:microsoft.com/office/officeart/2008/layout/LinedList"/>
    <dgm:cxn modelId="{341223B9-8310-488F-AE0F-09C8C59FC007}" type="presParOf" srcId="{E9701E8F-A1D2-4B36-8245-04A424288979}" destId="{E8E7C873-9C69-4CF6-8D2B-43560D9A2C97}" srcOrd="1" destOrd="0" presId="urn:microsoft.com/office/officeart/2008/layout/LinedList"/>
    <dgm:cxn modelId="{EE61EE38-0AB2-4BAA-9825-136C7A43D3CC}" type="presParOf" srcId="{E9701E8F-A1D2-4B36-8245-04A424288979}" destId="{4CAC97BB-0C63-4B0A-98E9-D6EE1104B352}" srcOrd="2" destOrd="0" presId="urn:microsoft.com/office/officeart/2008/layout/LinedList"/>
    <dgm:cxn modelId="{BE4DF432-4AA9-44B3-A5C2-5A21D5E5595F}" type="presParOf" srcId="{7A372687-F81A-49F9-9C2B-7E84E56DB477}" destId="{5B3C6D3F-2EF7-4BA1-9E11-478FB6AECB13}" srcOrd="5" destOrd="0" presId="urn:microsoft.com/office/officeart/2008/layout/LinedList"/>
    <dgm:cxn modelId="{5D520462-48F2-420A-8B07-4EF29152B0EC}" type="presParOf" srcId="{7A372687-F81A-49F9-9C2B-7E84E56DB477}" destId="{4214DF99-EE55-4E32-9A24-6533C89833B9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E736F-6110-4385-B4DC-75E76CCD961F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CDE80-0FBB-4AFE-8098-ADF6CD24187D}">
      <dsp:nvSpPr>
        <dsp:cNvPr id="0" name=""/>
        <dsp:cNvSpPr/>
      </dsp:nvSpPr>
      <dsp:spPr>
        <a:xfrm>
          <a:off x="0" y="0"/>
          <a:ext cx="1461211" cy="2505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/>
            <a:t>Safety:</a:t>
          </a:r>
          <a:endParaRPr lang="en-US" sz="2100" kern="1200"/>
        </a:p>
      </dsp:txBody>
      <dsp:txXfrm>
        <a:off x="0" y="0"/>
        <a:ext cx="1461211" cy="2505455"/>
      </dsp:txXfrm>
    </dsp:sp>
    <dsp:sp modelId="{7A500C0D-2A14-4415-9C11-4FFFC31CE341}">
      <dsp:nvSpPr>
        <dsp:cNvPr id="0" name=""/>
        <dsp:cNvSpPr/>
      </dsp:nvSpPr>
      <dsp:spPr>
        <a:xfrm>
          <a:off x="1570802" y="58232"/>
          <a:ext cx="5735253" cy="1164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Safe failure</a:t>
          </a:r>
          <a:r>
            <a:rPr lang="en-US" sz="2300" kern="1200"/>
            <a:t>: the failure causes the system to move towards or into the safe state, even without a process demand.</a:t>
          </a:r>
        </a:p>
      </dsp:txBody>
      <dsp:txXfrm>
        <a:off x="1570802" y="58232"/>
        <a:ext cx="5735253" cy="1164645"/>
      </dsp:txXfrm>
    </dsp:sp>
    <dsp:sp modelId="{3DC0522F-B73C-4639-A52D-A6A45F5DA3D0}">
      <dsp:nvSpPr>
        <dsp:cNvPr id="0" name=""/>
        <dsp:cNvSpPr/>
      </dsp:nvSpPr>
      <dsp:spPr>
        <a:xfrm>
          <a:off x="1461211" y="1222877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A9075-E070-4595-B3CF-A088F47F4959}">
      <dsp:nvSpPr>
        <dsp:cNvPr id="0" name=""/>
        <dsp:cNvSpPr/>
      </dsp:nvSpPr>
      <dsp:spPr>
        <a:xfrm>
          <a:off x="1570802" y="1281110"/>
          <a:ext cx="5735253" cy="1164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Dangerous failure</a:t>
          </a:r>
          <a:r>
            <a:rPr lang="en-US" sz="2300" kern="1200"/>
            <a:t>: the failure prevents the SIF from responding correctly to a process demand.</a:t>
          </a:r>
        </a:p>
      </dsp:txBody>
      <dsp:txXfrm>
        <a:off x="1570802" y="1281110"/>
        <a:ext cx="5735253" cy="1164645"/>
      </dsp:txXfrm>
    </dsp:sp>
    <dsp:sp modelId="{8DB734DC-8361-4E18-98AB-81F2EE0DA74E}">
      <dsp:nvSpPr>
        <dsp:cNvPr id="0" name=""/>
        <dsp:cNvSpPr/>
      </dsp:nvSpPr>
      <dsp:spPr>
        <a:xfrm>
          <a:off x="1461211" y="2445755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C0D63-0E68-477E-BB45-DB801A2BCA7A}">
      <dsp:nvSpPr>
        <dsp:cNvPr id="0" name=""/>
        <dsp:cNvSpPr/>
      </dsp:nvSpPr>
      <dsp:spPr>
        <a:xfrm>
          <a:off x="0" y="2505455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DE065-5FFF-400E-9302-0D2BFD5E7BAD}">
      <dsp:nvSpPr>
        <dsp:cNvPr id="0" name=""/>
        <dsp:cNvSpPr/>
      </dsp:nvSpPr>
      <dsp:spPr>
        <a:xfrm>
          <a:off x="0" y="2505455"/>
          <a:ext cx="1461211" cy="2505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u="sng" kern="1200"/>
            <a:t>Detection:</a:t>
          </a:r>
          <a:endParaRPr lang="en-US" sz="2100" kern="1200"/>
        </a:p>
      </dsp:txBody>
      <dsp:txXfrm>
        <a:off x="0" y="2505455"/>
        <a:ext cx="1461211" cy="2505455"/>
      </dsp:txXfrm>
    </dsp:sp>
    <dsp:sp modelId="{6248E906-3CB4-4336-BB98-D2C58AF3993A}">
      <dsp:nvSpPr>
        <dsp:cNvPr id="0" name=""/>
        <dsp:cNvSpPr/>
      </dsp:nvSpPr>
      <dsp:spPr>
        <a:xfrm>
          <a:off x="1570802" y="2563688"/>
          <a:ext cx="5735253" cy="1164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Detected (D)</a:t>
          </a:r>
          <a:r>
            <a:rPr lang="en-US" sz="2300" kern="1200"/>
            <a:t>: the failure is identified by the component’s internal online diagnostics.</a:t>
          </a:r>
        </a:p>
      </dsp:txBody>
      <dsp:txXfrm>
        <a:off x="1570802" y="2563688"/>
        <a:ext cx="5735253" cy="1164645"/>
      </dsp:txXfrm>
    </dsp:sp>
    <dsp:sp modelId="{73A8FC3F-CAE8-4D5F-908E-FE163220EB72}">
      <dsp:nvSpPr>
        <dsp:cNvPr id="0" name=""/>
        <dsp:cNvSpPr/>
      </dsp:nvSpPr>
      <dsp:spPr>
        <a:xfrm>
          <a:off x="1461211" y="3728333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E7C873-9C69-4CF6-8D2B-43560D9A2C97}">
      <dsp:nvSpPr>
        <dsp:cNvPr id="0" name=""/>
        <dsp:cNvSpPr/>
      </dsp:nvSpPr>
      <dsp:spPr>
        <a:xfrm>
          <a:off x="1570802" y="3786566"/>
          <a:ext cx="5735253" cy="11646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Undetected (U)</a:t>
          </a:r>
          <a:r>
            <a:rPr lang="en-US" sz="2300" kern="1200"/>
            <a:t>: the failure is silent, not revealed by online diagnostics. </a:t>
          </a:r>
        </a:p>
      </dsp:txBody>
      <dsp:txXfrm>
        <a:off x="1570802" y="3786566"/>
        <a:ext cx="5735253" cy="1164645"/>
      </dsp:txXfrm>
    </dsp:sp>
    <dsp:sp modelId="{5B3C6D3F-2EF7-4BA1-9E11-478FB6AECB13}">
      <dsp:nvSpPr>
        <dsp:cNvPr id="0" name=""/>
        <dsp:cNvSpPr/>
      </dsp:nvSpPr>
      <dsp:spPr>
        <a:xfrm>
          <a:off x="1461211" y="4951211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66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5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3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3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0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7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67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8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06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435FD3F-8718-D737-FCA5-8499B58C7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556148" cy="39776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Bayesian Network Model for Safety Integrity Assessment</a:t>
            </a:r>
            <a:endParaRPr lang="it-IT" sz="540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60D4D7-448E-ABF8-1994-01C840253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5029267"/>
            <a:ext cx="5577839" cy="1316736"/>
          </a:xfrm>
        </p:spPr>
        <p:txBody>
          <a:bodyPr anchor="ctr">
            <a:normAutofit/>
          </a:bodyPr>
          <a:lstStyle/>
          <a:p>
            <a:r>
              <a:rPr lang="en-US" sz="2400"/>
              <a:t>A Safety Instrumented Function Case Study</a:t>
            </a:r>
            <a:endParaRPr lang="it-IT" sz="24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557784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3C63E-94DF-5C71-8446-69A7B343C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08" r="23506" b="-2"/>
          <a:stretch>
            <a:fillRect/>
          </a:stretch>
        </p:blipFill>
        <p:spPr>
          <a:xfrm>
            <a:off x="6696635" y="508090"/>
            <a:ext cx="4969099" cy="58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9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214922C-8AB2-ECA6-09FF-FFD97334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it-IT" dirty="0"/>
              <a:t>System </a:t>
            </a:r>
            <a:r>
              <a:rPr lang="it-IT" dirty="0" err="1"/>
              <a:t>Description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DCEE076-F39D-69AC-1E3F-048237529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1195129"/>
            <a:ext cx="4959823" cy="446384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F5CB29-AF2A-DA7E-71AC-4D0201D73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system under analysis is a </a:t>
            </a:r>
            <a:r>
              <a:rPr lang="en-US" b="1" dirty="0"/>
              <a:t>Safety Instrumented Function (SIF)</a:t>
            </a:r>
            <a:r>
              <a:rPr lang="en-US" dirty="0"/>
              <a:t>, it is an automated safety mechanism designed to bring a controlled industrial process to a safe state upon detection of a hazardous condition.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 Fault Tree is rooted at the Top Event: “SIF fails to respond to a process demand”. This top event is decomposed using an OR gate into the three independent subsystem failure events, reflecting the series architecture of the SIF: any single subsystem failure is sufficient to cause overall SIF failure.</a:t>
            </a:r>
          </a:p>
          <a:p>
            <a:pPr>
              <a:lnSpc>
                <a:spcPct val="100000"/>
              </a:lnSpc>
            </a:pPr>
            <a:endParaRPr lang="en-US" b="1" dirty="0"/>
          </a:p>
          <a:p>
            <a:pPr>
              <a:lnSpc>
                <a:spcPct val="10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5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8121A5C-016D-0093-5BF7-8E96DFEE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it-IT" sz="3400"/>
              <a:t>Failure Classification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7D75DA9-5FF9-1D8F-FE47-D4E418AA2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851064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43975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483F23-3DE0-3AAC-EE75-3F3DF93D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r>
              <a:rPr lang="it-IT" dirty="0" err="1"/>
              <a:t>Bayesian</a:t>
            </a:r>
            <a:r>
              <a:rPr lang="it-IT" dirty="0"/>
              <a:t> Network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7BB9C7-D119-E01C-CFC8-2BC7122C5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3472021"/>
            <a:ext cx="6281928" cy="28739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C6B11B8-BAE3-5FAB-B187-A68B123C5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We are </a:t>
                </a:r>
                <a:r>
                  <a:rPr lang="it-IT" dirty="0" err="1"/>
                  <a:t>interested</a:t>
                </a:r>
                <a:r>
                  <a:rPr lang="it-IT" dirty="0"/>
                  <a:t> in the </a:t>
                </a:r>
                <a:r>
                  <a:rPr lang="it-IT" b="1" dirty="0" err="1"/>
                  <a:t>safety</a:t>
                </a:r>
                <a:r>
                  <a:rPr lang="it-IT" dirty="0"/>
                  <a:t> </a:t>
                </a:r>
                <a:r>
                  <a:rPr lang="it-IT" dirty="0" err="1"/>
                  <a:t>metric</a:t>
                </a:r>
                <a:r>
                  <a:rPr lang="it-IT" dirty="0"/>
                  <a:t> of </a:t>
                </a:r>
                <a:r>
                  <a:rPr lang="it-IT" dirty="0" err="1"/>
                  <a:t>dependability</a:t>
                </a:r>
                <a:r>
                  <a:rPr lang="it-IT" dirty="0"/>
                  <a:t>, so </a:t>
                </a:r>
                <a:r>
                  <a:rPr lang="it-IT" dirty="0" err="1"/>
                  <a:t>our</a:t>
                </a:r>
                <a:r>
                  <a:rPr lang="it-IT" dirty="0"/>
                  <a:t> </a:t>
                </a:r>
                <a:r>
                  <a:rPr lang="it-IT" dirty="0" err="1"/>
                  <a:t>concern</a:t>
                </a:r>
                <a:r>
                  <a:rPr lang="it-IT" dirty="0"/>
                  <a:t> are Dangerous </a:t>
                </a:r>
                <a:r>
                  <a:rPr lang="it-IT" dirty="0" err="1"/>
                  <a:t>Undetected</a:t>
                </a:r>
                <a:r>
                  <a:rPr lang="it-IT" dirty="0"/>
                  <a:t> </a:t>
                </a:r>
                <a:r>
                  <a:rPr lang="it-IT" dirty="0" err="1"/>
                  <a:t>Failures</a:t>
                </a:r>
                <a:r>
                  <a:rPr lang="it-IT" dirty="0"/>
                  <a:t> and Dangerous </a:t>
                </a:r>
                <a:r>
                  <a:rPr lang="it-IT" dirty="0" err="1"/>
                  <a:t>Detected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are </a:t>
                </a:r>
                <a:r>
                  <a:rPr lang="it-IT" dirty="0" err="1"/>
                  <a:t>not</a:t>
                </a:r>
                <a:r>
                  <a:rPr lang="it-IT" dirty="0"/>
                  <a:t> </a:t>
                </a:r>
                <a:r>
                  <a:rPr lang="it-IT" dirty="0" err="1"/>
                  <a:t>handled</a:t>
                </a:r>
                <a:r>
                  <a:rPr lang="it-IT" dirty="0"/>
                  <a:t>. In the review </a:t>
                </a:r>
                <a:r>
                  <a:rPr lang="it-IT" dirty="0" err="1"/>
                  <a:t>we</a:t>
                </a:r>
                <a:r>
                  <a:rPr lang="it-IT" dirty="0"/>
                  <a:t> use </a:t>
                </a:r>
                <a:r>
                  <a:rPr lang="it-IT" dirty="0" err="1"/>
                  <a:t>also</a:t>
                </a:r>
                <a:r>
                  <a:rPr lang="it-IT" dirty="0"/>
                  <a:t> the </a:t>
                </a:r>
                <a:r>
                  <a:rPr lang="it-IT" dirty="0" err="1"/>
                  <a:t>term</a:t>
                </a:r>
                <a:r>
                  <a:rPr lang="it-IT" dirty="0"/>
                  <a:t> Reliability </a:t>
                </a:r>
                <a:r>
                  <a:rPr lang="it-IT" dirty="0" err="1"/>
                  <a:t>but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referred</a:t>
                </a:r>
                <a:r>
                  <a:rPr lang="it-IT" dirty="0"/>
                  <a:t> more </a:t>
                </a:r>
                <a:r>
                  <a:rPr lang="it-IT" dirty="0" err="1"/>
                  <a:t>as</a:t>
                </a:r>
                <a:r>
                  <a:rPr lang="it-IT" dirty="0"/>
                  <a:t> a Reliability from Dangerous </a:t>
                </a:r>
                <a:r>
                  <a:rPr lang="it-IT" dirty="0" err="1"/>
                  <a:t>Failures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:r>
                  <a:rPr lang="it-IT" dirty="0" err="1"/>
                  <a:t>Threshold</a:t>
                </a:r>
                <a:r>
                  <a:rPr lang="it-IT" dirty="0"/>
                  <a:t> </a:t>
                </a:r>
                <a:r>
                  <a:rPr lang="it-IT" dirty="0" err="1"/>
                  <a:t>values</a:t>
                </a:r>
                <a:r>
                  <a:rPr lang="it-IT" dirty="0"/>
                  <a:t> are:</a:t>
                </a:r>
              </a:p>
              <a:p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8760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𝑀𝑇𝐵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4 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𝑦𝑒𝑎𝑟𝑠</m:t>
                    </m:r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C6B11B8-BAE3-5FAB-B187-A68B123C5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07224" y="1088136"/>
                <a:ext cx="4160520" cy="5257800"/>
              </a:xfrm>
              <a:blipFill>
                <a:blip r:embed="rId3"/>
                <a:stretch>
                  <a:fillRect l="-1320" t="-464" r="-8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862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64CDF6-D463-8D3B-6BC9-88F2DA1EC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Dependability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C65DAC-13C4-4506-7CB6-0B7F4DF08A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that from the Bayesian Network we got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=0.11%.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Using the approximation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𝑡𝑜𝑝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the top-event failure rate can be estimated as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So, the MTBF is </a:t>
                </a: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C65DAC-13C4-4506-7CB6-0B7F4DF08A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3" t="-1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C905EB31-D147-77D5-8B37-922E9D02E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155" y="3649765"/>
            <a:ext cx="2686050" cy="5810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EAD4372-249F-D3BC-D53B-FD2B78A3B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155" y="4689852"/>
            <a:ext cx="246697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4CA673-C577-DADD-8416-8C739438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0200383" cy="75278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dirty="0"/>
              <a:t>Inference and MPE on Failed state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19F439E-2A22-37B5-20DF-B5DD00768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9" y="3041971"/>
            <a:ext cx="5515396" cy="2564659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60715BA-9B60-B6FD-BE9B-C3EBB1E28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831" y="3055852"/>
            <a:ext cx="5515396" cy="2537083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5C697BB-D229-C641-3EB1-5330CE288A48}"/>
              </a:ext>
            </a:extLst>
          </p:cNvPr>
          <p:cNvSpPr txBox="1"/>
          <p:nvPr/>
        </p:nvSpPr>
        <p:spPr>
          <a:xfrm>
            <a:off x="2425308" y="2378316"/>
            <a:ext cx="2200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/>
              <a:t>Inference</a:t>
            </a:r>
            <a:endParaRPr lang="it-IT" sz="36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11FBBB8-013A-CE78-1F1C-E09BF8800701}"/>
              </a:ext>
            </a:extLst>
          </p:cNvPr>
          <p:cNvSpPr txBox="1"/>
          <p:nvPr/>
        </p:nvSpPr>
        <p:spPr>
          <a:xfrm>
            <a:off x="8732018" y="2596110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MPE</a:t>
            </a:r>
          </a:p>
        </p:txBody>
      </p:sp>
    </p:spTree>
    <p:extLst>
      <p:ext uri="{BB962C8B-B14F-4D97-AF65-F5344CB8AC3E}">
        <p14:creationId xmlns:p14="http://schemas.microsoft.com/office/powerpoint/2010/main" val="331407423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289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Bierstadt</vt:lpstr>
      <vt:lpstr>Cambria Math</vt:lpstr>
      <vt:lpstr>GestaltVTI</vt:lpstr>
      <vt:lpstr>Bayesian Network Model for Safety Integrity Assessment</vt:lpstr>
      <vt:lpstr>System Description</vt:lpstr>
      <vt:lpstr>Failure Classification</vt:lpstr>
      <vt:lpstr>Bayesian Network</vt:lpstr>
      <vt:lpstr>Dependability Results</vt:lpstr>
      <vt:lpstr>Inference and MPE on Failed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nesti</dc:creator>
  <cp:lastModifiedBy>alessandro nesti</cp:lastModifiedBy>
  <cp:revision>1</cp:revision>
  <dcterms:created xsi:type="dcterms:W3CDTF">2026-06-28T17:10:04Z</dcterms:created>
  <dcterms:modified xsi:type="dcterms:W3CDTF">2026-06-28T17:48:46Z</dcterms:modified>
</cp:coreProperties>
</file>